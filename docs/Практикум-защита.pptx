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19080bf12c4e76" /><Relationship Type="http://schemas.openxmlformats.org/officeDocument/2006/relationships/extended-properties" Target="/docProps/app.xml" Id="R7351d1faf53e4fde" /><Relationship Type="http://schemas.openxmlformats.org/officeDocument/2006/relationships/officeDocument" Target="/ppt/presentation.xml" Id="R4785b20cb22849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27693e6a7742b6"/>
  </p:sldMasterIdLst>
  <p:notesMasterIdLst>
    <p:notesMasterId xmlns:r="http://schemas.openxmlformats.org/officeDocument/2006/relationships" r:id="Rafd6b08660b64993"/>
  </p:notesMasterIdLst>
  <p:sldIdLst>
    <p:sldId xmlns:r="http://schemas.openxmlformats.org/officeDocument/2006/relationships" id="256" r:id="R8b610aaf334d4528"/>
    <p:sldId xmlns:r="http://schemas.openxmlformats.org/officeDocument/2006/relationships" id="257" r:id="Rde476083a949462d"/>
    <p:sldId xmlns:r="http://schemas.openxmlformats.org/officeDocument/2006/relationships" id="258" r:id="Rf364e9a719e04faf"/>
    <p:sldId xmlns:r="http://schemas.openxmlformats.org/officeDocument/2006/relationships" id="259" r:id="R9ecad7b0ab724947"/>
    <p:sldId xmlns:r="http://schemas.openxmlformats.org/officeDocument/2006/relationships" id="260" r:id="Rb426684bc27d419c"/>
    <p:sldId xmlns:r="http://schemas.openxmlformats.org/officeDocument/2006/relationships" id="261" r:id="R23f63e2e51fe4f60"/>
    <p:sldId xmlns:r="http://schemas.openxmlformats.org/officeDocument/2006/relationships" id="262" r:id="R878bf464a5054c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63ef4461124d35" /><Relationship Type="http://schemas.openxmlformats.org/officeDocument/2006/relationships/slideMaster" Target="/ppt/slideMasters/slideMaster1.xml" Id="R8827693e6a7742b6" /><Relationship Type="http://schemas.openxmlformats.org/officeDocument/2006/relationships/notesMaster" Target="/ppt/notesMasters/notesMaster1.xml" Id="Rafd6b08660b64993" /><Relationship Type="http://schemas.openxmlformats.org/officeDocument/2006/relationships/presProps" Target="/ppt/presProps.xml" Id="R04cad4dd477f41ef" /><Relationship Type="http://schemas.openxmlformats.org/officeDocument/2006/relationships/tableStyles" Target="/ppt/tableStyles.xml" Id="R3e347fa29767431a" /><Relationship Type="http://schemas.openxmlformats.org/officeDocument/2006/relationships/slide" Target="/ppt/slides/slide1.xml" Id="R8b610aaf334d4528" /><Relationship Type="http://schemas.openxmlformats.org/officeDocument/2006/relationships/slide" Target="/ppt/slides/slide2.xml" Id="Rde476083a949462d" /><Relationship Type="http://schemas.openxmlformats.org/officeDocument/2006/relationships/slide" Target="/ppt/slides/slide3.xml" Id="Rf364e9a719e04faf" /><Relationship Type="http://schemas.openxmlformats.org/officeDocument/2006/relationships/slide" Target="/ppt/slides/slide4.xml" Id="R9ecad7b0ab724947" /><Relationship Type="http://schemas.openxmlformats.org/officeDocument/2006/relationships/slide" Target="/ppt/slides/slide5.xml" Id="Rb426684bc27d419c" /><Relationship Type="http://schemas.openxmlformats.org/officeDocument/2006/relationships/slide" Target="/ppt/slides/slide6.xml" Id="R23f63e2e51fe4f60" /><Relationship Type="http://schemas.openxmlformats.org/officeDocument/2006/relationships/slide" Target="/ppt/slides/slide7.xml" Id="R878bf464a5054c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013cf7f61b4b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0c8fc1f55a4768" /><Relationship Type="http://schemas.openxmlformats.org/officeDocument/2006/relationships/notesMaster" Target="/ppt/notesMasters/notesMaster1.xml" Id="Rac2e4a2f6a3c49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dc3de80c0247fc" /><Relationship Type="http://schemas.openxmlformats.org/officeDocument/2006/relationships/notesMaster" Target="/ppt/notesMasters/notesMaster1.xml" Id="R2db793591e714b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c0640f83e24946" /><Relationship Type="http://schemas.openxmlformats.org/officeDocument/2006/relationships/notesMaster" Target="/ppt/notesMasters/notesMaster1.xml" Id="R63a08833bb4a4b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6f488a97db4fb2" /><Relationship Type="http://schemas.openxmlformats.org/officeDocument/2006/relationships/notesMaster" Target="/ppt/notesMasters/notesMaster1.xml" Id="R55f3b9d9512643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1b7c1d4f264dcc" /><Relationship Type="http://schemas.openxmlformats.org/officeDocument/2006/relationships/notesMaster" Target="/ppt/notesMasters/notesMaster1.xml" Id="R2ea47fd1b14445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f561a271af407a" /><Relationship Type="http://schemas.openxmlformats.org/officeDocument/2006/relationships/notesMaster" Target="/ppt/notesMasters/notesMaster1.xml" Id="Rd28c518c438f44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23a7526fc740e3" /><Relationship Type="http://schemas.openxmlformats.org/officeDocument/2006/relationships/notesMaster" Target="/ppt/notesMasters/notesMaster1.xml" Id="Rcb2b494a242e4c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0:00–0:12. «Практикум помогает бизнесу подготовить задачу, с которой студентам реально начать работу. Чем полнее описание, тем выше готовность и место в каталоге». Проблема из кейса: первоначальная потребность не содержит данных, критериев результата и порядка связи. Не заявлять результаты исследования рынка или экономический эффект. Источник: кейс «Единый кейс по геймификации практических заданий», AI Sana, разделы 2–11. Реализация: app.py, src/ai.py, src/rating.py, src/catalog.py, src/progress.py и README.md в репозитории BAITC-Hacks/hack-8d5054cd-builders.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0:12–0:25. «Две роли живут в одном приложении. AI помогает уточнить карточку. Команды сами выбирают задачи, бизнес сам выбирает исполнителей. Затем бизнес принимает этапы работы». Эта схема помогает зрителям понимать дальнейшие переключения роли. Источник: кейс «Единый кейс по геймификации практических заданий», AI Sana, разделы 2–11. Реализация: app.py, src/ai.py, src/rating.py, src/catalog.py, src/progress.py и README.md в репозитории BAITC-Hacks/hack-8d5054cd-builders.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0:25–0:45. «Главная игровая механика адресована бизнесу. Веса видны, рекомендации указывают, что дополнить. После подтверждённого изменения балл и позиция пересчитываются. Даже слабая задача остаётся открытой для отклика». Геймификация бизнеса даёт до 25 баллов по критериям оценки. Формула MVP детерминирована: полнота по полям, длине содержательного текста и отсечению заглушек. Это эвристика полноты, а не доказательство истинности или семантической полезности текста. Предпросмотр до публикации не является подтверждённым рейтингом. Источник: кейс «Единый кейс по геймификации практических заданий», AI Sana, разделы 2–11. Реализация: app.py, src/ai.py, src/rating.py, src/catalog.py, src/progress.py и README.md в репозитории BAITC-Hacks/hack-8d5054cd-builders.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0:45–1:00. «AI задаёт вопросы и собирает JSON. Программа проверяет, что сведения пришли из черновика или ответов. Бизнес может всё изменить и подтверждает публикацию. При проблеме с сетью у нас явно обозначенный локальный сценарий». Не обещать гарантию корректности модели: проверка цитат подтверждает происхождение, а человек проверяет смысл. Реализованы обёртки OpenAI и NVIDIA. Не утверждать, что оба API успешно прошли живую проверку. В резервном режиме показать промпт, вход и выход из инструкции. Источник: кейс «Единый кейс по геймификации практических заданий», AI Sana, разделы 2–11. Реализация: app.py, src/ai.py, src/rating.py, src/catalog.py, src/progress.py и README.md в репозитории BAITC-Hacks/hack-8d5054cd-builders.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1:00–4:05. Переключиться в открытую вкладку приложения. Вся демонстрация идёт в одной сессии браузера. Бизнес / Новая задача: Попробовать на примере → Получить вопросы. Показать 10/100 и несколько вопросов. Сформировать карточку: показать 100/100 и прирост +90. Для демонстрации движения в каталоге очистить только поле «Какие материалы есть?» в разделе «Результат и условия», опубликовать 80 баллов. В Мои задачи вернуть синтетическое описание данных и сохранить, показать 100 и изменение позиции с 4-й на 2-ю в чистой сессии. Затем роль Студенческая команда / DataCraft / Каталог: Предложить решение, идея, план, срок, ссылка, Отправить отклик. Бизнес / Мои задачи: Выбрать команду. Студенты / Мои проекты: отправить этап, бизнес подтверждает его. Точные поля и текст для копирования находятся в СЦЕНАРИЙ-ЗАЩИТЫ.md. Цифры 10 и 100 относятся к синтетическому прогнанному примеру. Источник: кейс «Единый кейс по геймификации практических заданий», AI Sana, разделы 2–11. Реализация: app.py, src/ai.py, src/rating.py, src/catalog.py, src/progress.py и README.md в репозитории BAITC-Hacks/hack-8d5054cd-builders.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4:05–4:30. Вернуться к слайдам после принятия первого этапа, если уложились в срок. «Мы добавили второй цикл геймификации: опыт за фактический результат. Сначала согласованный план, затем прототип и результат. Отправка заявки и сам факт выбора баллы не дают. Бизнес может вернуть этап на доработку». В живом демо достаточно первого этапа: 0 XP до проверки, 20 XP после. Все три этапа в сумме дают 120 XP за проект. Источник: кейс «Единый кейс по геймификации практических заданий», AI Sana, разделы 2–11. Реализация: app.py, src/ai.py, src/rating.py, src/catalog.py, src/progress.py и README.md в репозитории BAITC-Hacks/hack-8d5054cd-builders.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4:30–5:00. «MVP уже выполняет сквозной сценарий. Исходники и инструкция запуска в репозитории. Для промышленного пилота дальше нужны постоянное хранение и независимые сессии пользователей. Сейчас мы сознательно работаем в границах пятичасового кейса». Для скачивания актуальной версии использовать ветку codex/ai-providers-v0.2 либо PR №1, если main ещё не содержит её. Никаких вымышленных метрик экономии или числа пользователей. Резюме и критерии описаны в сопроводительных файлах. Источник: кейс «Единый кейс по геймификации практических заданий», AI Sana, разделы 2–11. Реализация: app.py, src/ai.py, src/rating.py, src/catalog.py, src/progress.py и README.md в репозитории BAITC-Hacks/hack-8d5054cd-builders.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de60f4fe649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6857cdf63648ed" /><Relationship Type="http://schemas.openxmlformats.org/officeDocument/2006/relationships/slideLayout" Target="/ppt/slideLayouts/slideLayout1.xml" Id="R3fabc3b404904b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abc3b404904b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4a2768fb54d00" /><Relationship Type="http://schemas.openxmlformats.org/officeDocument/2006/relationships/notesSlide" Target="/ppt/notesSlides/notesSlide1.xml" Id="R038722285fec4e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06b207a7b407a" /><Relationship Type="http://schemas.openxmlformats.org/officeDocument/2006/relationships/notesSlide" Target="/ppt/notesSlides/notesSlide2.xml" Id="Ra90949dd0d344a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440ca3893400d" /><Relationship Type="http://schemas.openxmlformats.org/officeDocument/2006/relationships/notesSlide" Target="/ppt/notesSlides/notesSlide3.xml" Id="R10d4002abc9f47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e84084f984031" /><Relationship Type="http://schemas.openxmlformats.org/officeDocument/2006/relationships/notesSlide" Target="/ppt/notesSlides/notesSlide4.xml" Id="Rf2a0caf60a094b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2180e4e314c1a" /><Relationship Type="http://schemas.openxmlformats.org/officeDocument/2006/relationships/notesSlide" Target="/ppt/notesSlides/notesSlide5.xml" Id="Ree0842de7f894d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ce39ada6c4146" /><Relationship Type="http://schemas.openxmlformats.org/officeDocument/2006/relationships/notesSlide" Target="/ppt/notesSlides/notesSlide6.xml" Id="Rd7eb5f44053043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c1400c8d940c1" /><Relationship Type="http://schemas.openxmlformats.org/officeDocument/2006/relationships/hyperlink" Target="https://github.com/BAITC-Hacks/hack-8d5054cd-builders/pull/1" TargetMode="External" Id="R699f37c895b74117" /><Relationship Type="http://schemas.openxmlformats.org/officeDocument/2006/relationships/notesSlide" Target="/ppt/notesSlides/notesSlide7.xml" Id="R99726ab09b0c4e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B104F-A20E-49AF-B6F3-6B76BAD3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CF011-E21A-44C3-AA53-19609944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HackAlem AI / AI Sana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31E74-E789-410D-94DE-CF294737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Практикум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BD17B-B0BB-489D-B0AA-85879776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971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Бизнес готовит понятную задачу.</a:t>
            </a:r>
          </a:p>
          <a:p xmlns:a="http://schemas.openxmlformats.org/drawingml/2006/main">
            <a:pPr>
              <a:defRPr sz="3300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Студенты предлагают решение.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7A11C-92F2-4E91-BD30-302B0D79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Работающий MVP конструктора практических задач</a:t>
            </a:r>
          </a:p>
        </p:txBody>
      </p:sp>
    </p:spTree>
    <p:extLst>
      <p:ext uri="{BB962C8B-B14F-4D97-AF65-F5344CB8AC3E}">
        <p14:creationId xmlns:p14="http://schemas.microsoft.com/office/powerpoint/2010/main" val="1883489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4954B-030F-4029-8D02-365E9517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Сценарий без сложной настройки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79B9B-BD40-42BC-A0A7-1A9DDE84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953C6-8C22-4D46-AF94-F008A43E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D4B11-00DE-4A4F-B738-67E412DD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811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12D"/>
                </a:solidFill>
                <a:latin typeface="Arial"/>
                <a:ea typeface="Arial"/>
                <a:cs typeface="Arial"/>
              </a:rPr>
              <a:t>Бизнес описывает потребность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4444E-C64A-41FA-9620-A14EC910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AI находит пробелы и задаёт минимум три вопроса.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E24EE-EDF2-4766-A0C8-6BF79524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D80E2-2919-4837-9078-EBF430B2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908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12D"/>
                </a:solidFill>
                <a:latin typeface="Arial"/>
                <a:ea typeface="Arial"/>
                <a:cs typeface="Arial"/>
              </a:rPr>
              <a:t>Бизнес подтверждает карточку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F3831-C2A9-4BE4-8ABC-259A56B6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Редактируемые поля, объяснимый рейтинг, открытый каталог.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8DF27-DAF7-498D-AD78-6BB2EF5D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004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0BC89-7A23-4636-9044-08D17CCA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004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12D"/>
                </a:solidFill>
                <a:latin typeface="Arial"/>
                <a:ea typeface="Arial"/>
                <a:cs typeface="Arial"/>
              </a:rPr>
              <a:t>Команда предлагает 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D4DB1-BDF2-4FE7-8718-9009E504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481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Идея, план, срок и ссылка на прототип.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EF1CF-D18A-4BB2-8F3C-5288C3EA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351D8-542B-4C4B-A1B3-6FDDD311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12D"/>
                </a:solidFill>
                <a:latin typeface="Arial"/>
                <a:ea typeface="Arial"/>
                <a:cs typeface="Arial"/>
              </a:rPr>
              <a:t>Бизнес принимает 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189FA-EF15-47D2-A8EE-D838A53F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Выбирает одну, несколько или ни одной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1192428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00A00-4A3A-4DF1-9F96-C4A4F359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Рейтинг готовности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2C609-F263-4241-80D2-C0A3CEF0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704975"/>
          <a:ext xmlns:a="http://schemas.openxmlformats.org/drawingml/2006/main" cx="6324600" cy="4267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238750"/>
                <a:gridCol w="1085850"/>
              </a:tblGrid>
              <a:tr h="4667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описал бизнес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Баллы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Контекст и потребность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Данные и материалы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Ожидаемый результат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Критерии успеха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Ограничения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Пользователи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Контакт и взаимодействие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Всего</a:t>
                      </a:r>
                    </a:p>
                  </a:txBody>
                  <a:tcPr marL="91440" marR="91440" marT="45720" marB="45720">
                    <a:solidFill>
                      <a:srgbClr val="E7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D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E7EDE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2F707-6F46-45F4-98F9-9AB3F380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0–39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0FD00-17F7-43BB-AACD-E5C4C1CB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478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Черновик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02B6F-A78A-44E1-B39D-E276CC17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40–69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995E3-0938-4A20-AA61-838006FC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Рабочая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1FDA2-1A97-4493-BF3A-2F4496CE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8137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70–89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32CD6-7280-4623-8152-7179ECB7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Готовая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D8F9B-B186-4432-BE89-7E4C7D0B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90–100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105A6-8793-4020-A40E-1B64B05A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Приоритетная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12121-9997-4993-BE58-B7B6FCB2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81600"/>
            <a:ext cx="376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12D"/>
                </a:solidFill>
                <a:latin typeface="Arial"/>
                <a:ea typeface="Arial"/>
                <a:cs typeface="Arial"/>
              </a:rPr>
              <a:t>Больше сведений</a:t>
            </a:r>
          </a:p>
          <a:p xmlns:a="http://schemas.openxmlformats.org/drawingml/2006/main">
            <a:pPr>
              <a:defRPr sz="2100" b="1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12D"/>
                </a:solidFill>
                <a:latin typeface="Arial"/>
                <a:ea typeface="Arial"/>
                <a:cs typeface="Arial"/>
              </a:rPr>
              <a:t>выше место в каталоге</a:t>
            </a:r>
          </a:p>
        </p:txBody>
      </p:sp>
    </p:spTree>
    <p:extLst>
      <p:ext uri="{BB962C8B-B14F-4D97-AF65-F5344CB8AC3E}">
        <p14:creationId xmlns:p14="http://schemas.microsoft.com/office/powerpoint/2010/main" val="258858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4B8AC-6DC5-41BE-A1A5-65BECAA2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AI помогает собрать факты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F65AD-1645-477A-A463-1524B4FB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AAC9D-3DD0-49C7-ACB7-692D2CDD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Черновик и ответы бизнеса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85203-9613-4038-B52C-C68F8866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Уместные вопросы и структурированный 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B3BAD-FE4B-48A0-92B2-E1924991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Проверка источников каждого заполненного поля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DC0A3-F99E-4C32-B1B2-B0A5A9F6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Редактирование и подтверждение человеком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14858-D3DF-4074-AB20-AD3623AD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47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При ошибке API приложение показывает локальный режим и продолжает сценарий.</a:t>
            </a:r>
          </a:p>
        </p:txBody>
      </p:sp>
    </p:spTree>
    <p:extLst>
      <p:ext uri="{BB962C8B-B14F-4D97-AF65-F5344CB8AC3E}">
        <p14:creationId xmlns:p14="http://schemas.microsoft.com/office/powerpoint/2010/main" val="8140659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76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96308-B310-471E-878D-24C4FB79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Живой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9F0E8-C5B9-432B-AF02-39CB7DE1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D9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6D9D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31C6C-2E23-486D-BE68-BB3B6453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85925"/>
            <a:ext cx="3429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FB6CF-D377-49EF-94DC-E5DED8FD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85925"/>
            <a:ext cx="4333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1341A-40D7-4176-A830-343CF6D3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956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BEA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BEAE5"/>
                </a:solidFill>
                <a:latin typeface="Arial"/>
                <a:ea typeface="Arial"/>
                <a:cs typeface="Arial"/>
              </a:rPr>
              <a:t>баллов в черновике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A6604-0737-42D2-9E85-00E54CAA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BEA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BEAE5"/>
                </a:solidFill>
                <a:latin typeface="Arial"/>
                <a:ea typeface="Arial"/>
                <a:cs typeface="Arial"/>
              </a:rPr>
              <a:t>после уточнения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0FB71-ADC1-41C9-92D1-A0AD5F8B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33875"/>
            <a:ext cx="1000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Публикация, отклик и ручной выбор команды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85FEE-47BC-48CF-9430-608300F9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BEA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BEAE5"/>
                </a:solidFill>
                <a:latin typeface="Arial"/>
                <a:ea typeface="Arial"/>
                <a:cs typeface="Arial"/>
              </a:rPr>
              <a:t>Заранее подготовленный синтетический пример сети магазинов</a:t>
            </a:r>
          </a:p>
        </p:txBody>
      </p:sp>
    </p:spTree>
    <p:extLst>
      <p:ext uri="{BB962C8B-B14F-4D97-AF65-F5344CB8AC3E}">
        <p14:creationId xmlns:p14="http://schemas.microsoft.com/office/powerpoint/2010/main" val="1763743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A374E-3E84-42DA-8C85-A9D98FA0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Опыт за принятые 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CB508-BBB7-4D34-A9D9-5C4A766F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B0224-70E5-449F-913C-591FFB18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285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96D8B-67ED-4ABB-8A52-ED980BAD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285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5B9AA-71D1-46F9-8BDF-1044D097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28825"/>
            <a:ext cx="285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50E98-6BA5-4D40-B31E-653E6F3D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61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12D"/>
                </a:solidFill>
                <a:latin typeface="Arial"/>
                <a:ea typeface="Arial"/>
                <a:cs typeface="Arial"/>
              </a:rPr>
              <a:t>XP за план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09FDE-DD07-4444-916C-FCCBEC4B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86150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12D"/>
                </a:solidFill>
                <a:latin typeface="Arial"/>
                <a:ea typeface="Arial"/>
                <a:cs typeface="Arial"/>
              </a:rPr>
              <a:t>XP за прототип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0241F-0ABF-4E22-B4A5-9F65B402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86150"/>
            <a:ext cx="3105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12D"/>
                </a:solidFill>
                <a:latin typeface="Arial"/>
                <a:ea typeface="Arial"/>
                <a:cs typeface="Arial"/>
              </a:rPr>
              <a:t>XP за результат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02B63-1C01-4A3E-BC5E-B767FCD6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Команда сдаёт этап. Бизнес проверяет и подтверждает.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BA1CD-69D6-4DDB-BBD8-FEE271F9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До подтверждения XP не растёт. Повторное начисление исключено.</a:t>
            </a:r>
          </a:p>
        </p:txBody>
      </p:sp>
    </p:spTree>
    <p:extLst>
      <p:ext uri="{BB962C8B-B14F-4D97-AF65-F5344CB8AC3E}">
        <p14:creationId xmlns:p14="http://schemas.microsoft.com/office/powerpoint/2010/main" val="567119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B63DB-1F50-4F9F-AF56-ED173D78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Готово к запуску и демонстрации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76B20-AEFF-4677-AFDA-2DC7E7A4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C0533-57FE-4940-BE70-C4CA6948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Полный сценарий в одном приложении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25E2F-1341-4130-BCFA-750674B1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0477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Прозрачный рейтинг и открытый каталог</a:t>
            </a:r>
          </a:p>
          <a:p xmlns:a="http://schemas.openxmlformats.org/drawingml/2006/main">
            <a:pPr>
              <a:defRPr sz="2250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AI, редактирование и ручной выбор бизнеса</a:t>
            </a:r>
          </a:p>
          <a:p xmlns:a="http://schemas.openxmlformats.org/drawingml/2006/main">
            <a:pPr>
              <a:defRPr sz="2250" b="0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12D"/>
                </a:solidFill>
                <a:latin typeface="Arial"/>
                <a:ea typeface="Arial"/>
                <a:cs typeface="Arial"/>
              </a:rPr>
              <a:t>Этапы команд с подтверждением результата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220FC-1649-4513-B023-EAFADD73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1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12D"/>
                </a:solidFill>
                <a:latin typeface="Arial"/>
                <a:ea typeface="Arial"/>
                <a:cs typeface="Arial"/>
              </a:rPr>
              <a:t>Границы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B486E-16F3-44C8-8B4A-BBAF2BC4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53025"/>
            <a:ext cx="1038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67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6760"/>
                </a:solidFill>
                <a:latin typeface="Arial"/>
                <a:ea typeface="Arial"/>
                <a:cs typeface="Arial"/>
              </a:rPr>
              <a:t>Данные одной сессии браузера. Постоянного хранения и авторизации пока нет.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019D2-1C87-4D4A-B1F5-0E195B01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  <a:hlinkClick xmlns:r="http://schemas.openxmlformats.org/officeDocument/2006/relationships" r:id="R699f37c895b74117"/>
              </a:rPr>
              <a:t>Финальная версия: PR №1</a:t>
            </a:r>
          </a:p>
        </p:txBody>
      </p:sp>
    </p:spTree>
    <p:extLst>
      <p:ext uri="{BB962C8B-B14F-4D97-AF65-F5344CB8AC3E}">
        <p14:creationId xmlns:p14="http://schemas.microsoft.com/office/powerpoint/2010/main" val="733972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2026-09-23T12:24:12.2310000Z</dcterms:created>
  <dcterms:modified xsi:type="dcterms:W3CDTF">2026-09-23T12:24:12.2310000Z</dcterms:modified>
</coreProperties>
</file>